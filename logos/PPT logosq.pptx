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1917"/>
    <a:srgbClr val="C2A052"/>
    <a:srgbClr val="111110"/>
    <a:srgbClr val="C9903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60583A-2D49-4A4B-AA20-8AF5DF58712F}" v="59" dt="2026-04-16T13:12:30.1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253" autoAdjust="0"/>
    <p:restoredTop sz="94925" autoAdjust="0"/>
  </p:normalViewPr>
  <p:slideViewPr>
    <p:cSldViewPr snapToGrid="0">
      <p:cViewPr>
        <p:scale>
          <a:sx n="73" d="100"/>
          <a:sy n="73" d="100"/>
        </p:scale>
        <p:origin x="45" y="2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35C02D-AE56-44EC-836B-938DBEDCF6FB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82BE15-0381-43F3-B143-6C39ED0C73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10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82BE15-0381-43F3-B143-6C39ED0C73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31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30C5-0952-F0D7-B516-2E74A2FCBD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5ABDC7-6551-F9EF-D956-560837F0F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EB602-9B47-66AA-E69C-3A399C736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2F9A1-5780-3011-EFB8-A1F0A2C3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F7E98-B5DC-37A5-66E5-670192E50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8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D664C-1E8A-C76E-C923-C99C35813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8BD82-1BE9-4019-AD7E-231F223B7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CBF2E-5249-127B-12DE-C9E3928DF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96D03-D286-75F3-DFAF-583F6953D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1627-50C7-6CE8-D86A-2099C80E4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99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AD85C-D7AB-E906-241A-B4756BF2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5E6B60-CF69-083C-54EF-75E5A611C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BED0D-6E91-FD5A-EE14-DCD0A6D3B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EB7715-8B16-1B4B-8097-8AEC6D0BB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2E9B4-88E2-9DAF-40C3-B3453670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157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EDE7A-C108-4698-A9CA-C4062C42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C3BE1-A287-A171-F954-91C03B9B93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65753-E780-9D84-2E16-63D70202E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E1EF3-AFDB-FCE9-C80F-2226B6CF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DB0D-86E8-C22D-86C8-9A8EE5DFA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4FDDCD-4527-2B89-F24A-F3489EA5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62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35E3A-635F-476B-5D0D-128F5A909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75DC3-5829-BCEE-67EE-6080E359CA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4B7EDA-A049-0A0B-FF30-261DE7A567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AED996-BB1A-EFB3-150E-CDF3289A5E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151F6-4379-3E7A-4BA4-C52D17A48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340F9-CEAA-2EC4-A443-9C3D23307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31FB57-A2ED-7F00-9C10-0EFF44B85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BDEBD8-31EC-FFFB-9AEA-F067108E2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08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1706C-75A2-D0D1-B508-590939F96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D8DE00-32C5-0FF0-EE52-4BD290C06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EE8F13-F82F-563B-DE3A-FE3C7AE9A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A7B90A-1745-40A3-DAA9-6CF2E2648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72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53D8B2-E7AB-A5E3-F79E-124CCCB4B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899135-7B3D-7B98-36E8-D50CDDC0D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EC664-D0CB-9CB9-C9D4-32031732E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1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EDA64-F1BC-4AE7-D5E9-9EE37264F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16826-2FCE-F10E-42BA-F24C58EF4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802258-14F8-2A7B-2FB5-0136044403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559B9F-F419-23A0-697D-4DD45A79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D40A5C-5F73-FCD4-729B-CBF07788A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A9E91-4022-A936-BD2A-33284AA7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05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7C98B-D134-5203-0C23-17A5F9686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5E1ABD-3296-DC72-71C7-097A2D2DB3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A364F-BE66-6F21-11BE-43088FE750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FEE48-FED7-47F4-5196-B61B49FCD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36F1F-9D4F-0C37-A476-E4C698B11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98A9B-985A-543D-60B6-6EF3E813D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38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8314F-D11F-746D-47C7-04F154F14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4FB6F-06B3-78D9-427C-EC7816AB3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ECD07-77B2-3652-F174-E26B51A1A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88851-4969-A356-C852-051A239E7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0B118-B8F6-316E-A8C4-E3655E0D2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1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1B66B5-DF50-A966-143A-8283F405C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4717AD-F1DA-88DF-6D5D-BB104622ED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BF0D79-F8D9-F47B-6814-C5421D2D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FD7E39-BB7A-281C-F729-9AF30A09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5781DD-82C9-E9D7-CF00-EA4D9AD9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58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364055-0609-E2C1-47FE-7E53BAA62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E7E4A-6A1D-9EF8-6A60-640E6BE84D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BA61-423E-ADC6-E618-1C47815A7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E061A1-4535-42A9-BF1F-1AB4D2062875}" type="datetimeFigureOut">
              <a:rPr lang="en-US" smtClean="0"/>
              <a:t>16-Apr-26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B5251-CFA6-EE9C-E536-1C494BAFC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72C4-237B-66A6-A9F5-40DB53F54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EDC007-9D66-4089-8817-176F9D2650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69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Rectangle 126">
            <a:extLst>
              <a:ext uri="{FF2B5EF4-FFF2-40B4-BE49-F238E27FC236}">
                <a16:creationId xmlns:a16="http://schemas.microsoft.com/office/drawing/2014/main" id="{455507EA-C952-C33E-E347-AF3F95CF4CB0}"/>
              </a:ext>
            </a:extLst>
          </p:cNvPr>
          <p:cNvSpPr>
            <a:spLocks noChangeAspect="1"/>
          </p:cNvSpPr>
          <p:nvPr/>
        </p:nvSpPr>
        <p:spPr>
          <a:xfrm>
            <a:off x="211923" y="2547116"/>
            <a:ext cx="3515163" cy="22872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640" rtlCol="0" anchor="t"/>
          <a:lstStyle/>
          <a:p>
            <a:r>
              <a:rPr lang="fr-FR" sz="1100" b="1" dirty="0">
                <a:solidFill>
                  <a:srgbClr val="1C1917"/>
                </a:solidFill>
              </a:rPr>
              <a:t>4 – Le carré plein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Le carré noir plein = « stone » : solidité, stabilité, fondations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Le triangle doré dans l’angle = « </a:t>
            </a:r>
            <a:r>
              <a:rPr lang="fr-FR" sz="1100" dirty="0" err="1">
                <a:solidFill>
                  <a:srgbClr val="1C1917"/>
                </a:solidFill>
              </a:rPr>
              <a:t>sun</a:t>
            </a:r>
            <a:r>
              <a:rPr lang="fr-FR" sz="1100" dirty="0">
                <a:solidFill>
                  <a:srgbClr val="1C1917"/>
                </a:solidFill>
              </a:rPr>
              <a:t> » : un rayon de lumière, une ouverture, un point d’émergence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Visuel géométrique : approche précise et tranchée de situations complexes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64BDE7B9-EC3A-13AC-7276-9EA9FABB157B}"/>
              </a:ext>
            </a:extLst>
          </p:cNvPr>
          <p:cNvSpPr>
            <a:spLocks noChangeAspect="1"/>
          </p:cNvSpPr>
          <p:nvPr/>
        </p:nvSpPr>
        <p:spPr>
          <a:xfrm>
            <a:off x="211923" y="126204"/>
            <a:ext cx="3515163" cy="22872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640" rtlCol="0" anchor="t"/>
          <a:lstStyle/>
          <a:p>
            <a:r>
              <a:rPr lang="fr-FR" sz="1100" b="1" dirty="0">
                <a:solidFill>
                  <a:srgbClr val="1C1917"/>
                </a:solidFill>
              </a:rPr>
              <a:t>1 – Le monogramme entrelacé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Minimaliste, construit à partir de 2 courbes en forme de S entrelacées, formant une icône carrée compacte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Composition empilée établissent une identité haut de gamme, intemporelle et institutionnelle — rappelant la DA de cabinets de conseil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F92F9A50-0867-4E85-6525-AA31F2773001}"/>
              </a:ext>
            </a:extLst>
          </p:cNvPr>
          <p:cNvSpPr>
            <a:spLocks noChangeAspect="1"/>
          </p:cNvSpPr>
          <p:nvPr/>
        </p:nvSpPr>
        <p:spPr>
          <a:xfrm>
            <a:off x="4188178" y="126204"/>
            <a:ext cx="3515163" cy="22872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640" rtlCol="0" anchor="t"/>
          <a:lstStyle/>
          <a:p>
            <a:r>
              <a:rPr lang="fr-FR" sz="1100" b="1" dirty="0">
                <a:solidFill>
                  <a:srgbClr val="1C1917"/>
                </a:solidFill>
              </a:rPr>
              <a:t>2 – L’ovale « S »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Deux arcs de cercle imbriqués qui représentent un S imagé. Pont entre le début et la fin du S (représentés par des points) : idée de connexion, alignement des parties inhérent aux transactions 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Boucle fermée: idée de structuration, </a:t>
            </a:r>
            <a:r>
              <a:rPr lang="fr-FR" sz="1100" dirty="0" err="1">
                <a:solidFill>
                  <a:srgbClr val="1C1917"/>
                </a:solidFill>
              </a:rPr>
              <a:t>closing</a:t>
            </a:r>
            <a:r>
              <a:rPr lang="fr-FR" sz="1100" dirty="0">
                <a:solidFill>
                  <a:srgbClr val="1C1917"/>
                </a:solidFill>
              </a:rPr>
              <a:t> the </a:t>
            </a:r>
            <a:r>
              <a:rPr lang="fr-FR" sz="1100" dirty="0" err="1">
                <a:solidFill>
                  <a:srgbClr val="1C1917"/>
                </a:solidFill>
              </a:rPr>
              <a:t>loop</a:t>
            </a:r>
            <a:r>
              <a:rPr lang="fr-FR" sz="1100" dirty="0">
                <a:solidFill>
                  <a:srgbClr val="1C1917"/>
                </a:solidFill>
              </a:rPr>
              <a:t>, boucler des opérations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CA224BD-53F5-5A4F-C771-FF6966502BDD}"/>
              </a:ext>
            </a:extLst>
          </p:cNvPr>
          <p:cNvGrpSpPr>
            <a:grpSpLocks noChangeAspect="1"/>
          </p:cNvGrpSpPr>
          <p:nvPr/>
        </p:nvGrpSpPr>
        <p:grpSpPr>
          <a:xfrm>
            <a:off x="1697664" y="2663858"/>
            <a:ext cx="419692" cy="419692"/>
            <a:chOff x="1670241" y="3259555"/>
            <a:chExt cx="817860" cy="81786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24B2FF-E382-9598-D888-CE50C9359B9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70241" y="3259555"/>
              <a:ext cx="817860" cy="817860"/>
            </a:xfrm>
            <a:prstGeom prst="rect">
              <a:avLst/>
            </a:prstGeom>
            <a:solidFill>
              <a:srgbClr val="1C1917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ight Triangle 10">
              <a:extLst>
                <a:ext uri="{FF2B5EF4-FFF2-40B4-BE49-F238E27FC236}">
                  <a16:creationId xmlns:a16="http://schemas.microsoft.com/office/drawing/2014/main" id="{E0548EDD-F068-B408-E505-C65AA1845D5A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2038115" y="3259555"/>
              <a:ext cx="449986" cy="449986"/>
            </a:xfrm>
            <a:prstGeom prst="rtTriangle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E487209E-DD49-48B7-3875-22042AD429C1}"/>
              </a:ext>
            </a:extLst>
          </p:cNvPr>
          <p:cNvSpPr txBox="1"/>
          <p:nvPr/>
        </p:nvSpPr>
        <p:spPr>
          <a:xfrm>
            <a:off x="2565391" y="6190782"/>
            <a:ext cx="10766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400" spc="50" dirty="0">
                <a:solidFill>
                  <a:srgbClr val="C2A052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SUN</a:t>
            </a:r>
            <a:r>
              <a:rPr lang="fr-FR" sz="1400" spc="50" dirty="0">
                <a:solidFill>
                  <a:srgbClr val="1C1917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600" dirty="0">
                <a:solidFill>
                  <a:srgbClr val="1C1917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ADVISORY</a:t>
            </a:r>
            <a:endParaRPr lang="fr-FR" sz="900" dirty="0">
              <a:solidFill>
                <a:srgbClr val="1C1917"/>
              </a:solidFill>
              <a:latin typeface="Franklin Gothic Book" panose="020B0503020102020204" pitchFamily="34" charset="0"/>
              <a:ea typeface="Dotum" panose="020B05030200000200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8C8C6B-DD13-BE36-5773-AF14FA9F13B2}"/>
              </a:ext>
            </a:extLst>
          </p:cNvPr>
          <p:cNvSpPr txBox="1"/>
          <p:nvPr/>
        </p:nvSpPr>
        <p:spPr>
          <a:xfrm>
            <a:off x="2565391" y="5530066"/>
            <a:ext cx="992388" cy="354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200" b="1" spc="20" dirty="0">
                <a:solidFill>
                  <a:srgbClr val="C2A052"/>
                </a:solidFill>
                <a:latin typeface="Bierstadt" panose="020B0004020202020204" pitchFamily="34" charset="0"/>
              </a:rPr>
              <a:t>SUN</a:t>
            </a:r>
            <a:r>
              <a:rPr lang="fr-FR" sz="1200" b="1" spc="20" dirty="0">
                <a:solidFill>
                  <a:srgbClr val="1C1917"/>
                </a:solidFill>
                <a:latin typeface="Bierstadt" panose="020B0004020202020204" pitchFamily="34" charset="0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700" spc="20" dirty="0">
                <a:solidFill>
                  <a:srgbClr val="1C1917"/>
                </a:solidFill>
                <a:latin typeface="Bierstadt" panose="020B0004020202020204" pitchFamily="34" charset="0"/>
              </a:rPr>
              <a:t>ADVISORY</a:t>
            </a:r>
            <a:endParaRPr lang="fr-FR" sz="1000" spc="20" dirty="0">
              <a:solidFill>
                <a:srgbClr val="1C1917"/>
              </a:solidFill>
              <a:latin typeface="Bierstadt" panose="020B0004020202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3F9A8C1-8B7F-2CDE-EC8E-78AE3865F918}"/>
              </a:ext>
            </a:extLst>
          </p:cNvPr>
          <p:cNvSpPr txBox="1"/>
          <p:nvPr/>
        </p:nvSpPr>
        <p:spPr>
          <a:xfrm>
            <a:off x="4201869" y="5530066"/>
            <a:ext cx="992388" cy="354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200" spc="20" dirty="0">
                <a:solidFill>
                  <a:srgbClr val="C2A052"/>
                </a:solidFill>
                <a:latin typeface="Bierstadt" panose="020B0004020202020204" pitchFamily="34" charset="0"/>
              </a:rPr>
              <a:t>SUN</a:t>
            </a:r>
            <a:r>
              <a:rPr lang="fr-FR" sz="1200" spc="20" dirty="0">
                <a:solidFill>
                  <a:srgbClr val="1C1917"/>
                </a:solidFill>
                <a:latin typeface="Bierstadt" panose="020B0004020202020204" pitchFamily="34" charset="0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700" spc="-20" dirty="0">
                <a:solidFill>
                  <a:srgbClr val="1C1917"/>
                </a:solidFill>
                <a:latin typeface="Bierstadt" panose="020B0004020202020204" pitchFamily="34" charset="0"/>
              </a:rPr>
              <a:t>ADVISORY</a:t>
            </a:r>
            <a:endParaRPr lang="fr-FR" sz="1000" spc="-20" dirty="0">
              <a:solidFill>
                <a:srgbClr val="1C1917"/>
              </a:solidFill>
              <a:latin typeface="Bierstadt" panose="020B00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3A0239-B6E2-8712-52C1-F7C2F71E46C1}"/>
              </a:ext>
            </a:extLst>
          </p:cNvPr>
          <p:cNvSpPr txBox="1"/>
          <p:nvPr/>
        </p:nvSpPr>
        <p:spPr>
          <a:xfrm>
            <a:off x="4190412" y="6190782"/>
            <a:ext cx="107664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400" spc="50" dirty="0">
                <a:solidFill>
                  <a:srgbClr val="C2A052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SUN</a:t>
            </a:r>
            <a:r>
              <a:rPr lang="fr-FR" sz="1400" spc="50" dirty="0">
                <a:solidFill>
                  <a:srgbClr val="1C1917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600" spc="50" dirty="0">
                <a:solidFill>
                  <a:srgbClr val="1C1917"/>
                </a:solidFill>
                <a:latin typeface="Franklin Gothic Book" panose="020B0503020102020204" pitchFamily="34" charset="0"/>
                <a:ea typeface="Dotum" panose="020B0503020000020004" pitchFamily="34" charset="-127"/>
              </a:rPr>
              <a:t>ADVISORY</a:t>
            </a:r>
            <a:endParaRPr lang="fr-FR" sz="900" spc="50" dirty="0">
              <a:solidFill>
                <a:srgbClr val="1C1917"/>
              </a:solidFill>
              <a:latin typeface="Franklin Gothic Book" panose="020B0503020102020204" pitchFamily="34" charset="0"/>
              <a:ea typeface="Dotum" panose="020B0503020000020004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F34C337-E670-D5D0-951A-0A7EBCB77BD0}"/>
              </a:ext>
            </a:extLst>
          </p:cNvPr>
          <p:cNvSpPr txBox="1"/>
          <p:nvPr/>
        </p:nvSpPr>
        <p:spPr>
          <a:xfrm>
            <a:off x="2565391" y="4985794"/>
            <a:ext cx="1124347" cy="3427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200" b="1" spc="150" dirty="0">
                <a:solidFill>
                  <a:srgbClr val="C2A052"/>
                </a:solidFill>
              </a:rPr>
              <a:t>SUN</a:t>
            </a:r>
            <a:r>
              <a:rPr lang="fr-FR" sz="1200" b="1" spc="150" dirty="0">
                <a:solidFill>
                  <a:srgbClr val="1C1917"/>
                </a:solidFill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700" spc="20" dirty="0">
                <a:solidFill>
                  <a:srgbClr val="1C1917"/>
                </a:solidFill>
              </a:rPr>
              <a:t>ADVISORY</a:t>
            </a:r>
            <a:endParaRPr lang="fr-FR" sz="1000" spc="20" dirty="0">
              <a:solidFill>
                <a:srgbClr val="1C1917"/>
              </a:solidFill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78CFE39-E226-1B1D-7FB6-70F0CDF0D33C}"/>
              </a:ext>
            </a:extLst>
          </p:cNvPr>
          <p:cNvGrpSpPr>
            <a:grpSpLocks noChangeAspect="1"/>
          </p:cNvGrpSpPr>
          <p:nvPr/>
        </p:nvGrpSpPr>
        <p:grpSpPr>
          <a:xfrm>
            <a:off x="2348427" y="5015705"/>
            <a:ext cx="215368" cy="246658"/>
            <a:chOff x="2237102" y="2375266"/>
            <a:chExt cx="315320" cy="361130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F3A3935-684F-3664-741E-370CFC7F4AA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19050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FD3993E4-6364-0BC2-489E-CA57F540116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1920031B-4C1F-DF92-7334-37547F848543}"/>
              </a:ext>
            </a:extLst>
          </p:cNvPr>
          <p:cNvSpPr txBox="1"/>
          <p:nvPr/>
        </p:nvSpPr>
        <p:spPr>
          <a:xfrm>
            <a:off x="5790918" y="5517772"/>
            <a:ext cx="992388" cy="354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200" spc="20" dirty="0">
                <a:solidFill>
                  <a:srgbClr val="C2A052"/>
                </a:solidFill>
                <a:latin typeface="Bierstadt" panose="020B0004020202020204" pitchFamily="34" charset="0"/>
              </a:rPr>
              <a:t>SUN</a:t>
            </a:r>
            <a:r>
              <a:rPr lang="fr-FR" sz="1200" spc="20" dirty="0">
                <a:solidFill>
                  <a:srgbClr val="1C1917"/>
                </a:solidFill>
                <a:latin typeface="Bierstadt" panose="020B0004020202020204" pitchFamily="34" charset="0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700" spc="-20" dirty="0">
                <a:solidFill>
                  <a:srgbClr val="1C1917"/>
                </a:solidFill>
                <a:latin typeface="Bierstadt" panose="020B0004020202020204" pitchFamily="34" charset="0"/>
              </a:rPr>
              <a:t>ADVISORY</a:t>
            </a:r>
            <a:endParaRPr lang="fr-FR" sz="1000" spc="-20" dirty="0">
              <a:solidFill>
                <a:srgbClr val="1C1917"/>
              </a:solidFill>
              <a:latin typeface="Bierstadt" panose="020B0004020202020204" pitchFamily="34" charset="0"/>
            </a:endParaRPr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4F2AB13-DD63-D939-1512-2E0F64D4762D}"/>
              </a:ext>
            </a:extLst>
          </p:cNvPr>
          <p:cNvGrpSpPr>
            <a:grpSpLocks noChangeAspect="1"/>
          </p:cNvGrpSpPr>
          <p:nvPr/>
        </p:nvGrpSpPr>
        <p:grpSpPr>
          <a:xfrm>
            <a:off x="7032024" y="5551641"/>
            <a:ext cx="286655" cy="286655"/>
            <a:chOff x="1670241" y="3259555"/>
            <a:chExt cx="817860" cy="817860"/>
          </a:xfrm>
        </p:grpSpPr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60272C2-7BAF-D32F-91FA-7A68746B63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670241" y="3259555"/>
              <a:ext cx="817860" cy="817860"/>
            </a:xfrm>
            <a:prstGeom prst="rect">
              <a:avLst/>
            </a:prstGeom>
            <a:solidFill>
              <a:srgbClr val="1C1917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4" name="Right Triangle 93">
              <a:extLst>
                <a:ext uri="{FF2B5EF4-FFF2-40B4-BE49-F238E27FC236}">
                  <a16:creationId xmlns:a16="http://schemas.microsoft.com/office/drawing/2014/main" id="{C9F0680C-033E-586F-BD0B-DE1C3CCBBF3B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2038115" y="3259555"/>
              <a:ext cx="449986" cy="449986"/>
            </a:xfrm>
            <a:prstGeom prst="rtTriangle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EF3EA745-5349-3642-BC2C-45F46551234D}"/>
              </a:ext>
            </a:extLst>
          </p:cNvPr>
          <p:cNvSpPr txBox="1"/>
          <p:nvPr/>
        </p:nvSpPr>
        <p:spPr>
          <a:xfrm>
            <a:off x="7275064" y="5517772"/>
            <a:ext cx="992388" cy="3543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85000"/>
              </a:lnSpc>
            </a:pPr>
            <a:r>
              <a:rPr lang="fr-FR" sz="1200" spc="20" dirty="0">
                <a:solidFill>
                  <a:srgbClr val="C2A052"/>
                </a:solidFill>
                <a:latin typeface="Bierstadt" panose="020B0004020202020204" pitchFamily="34" charset="0"/>
              </a:rPr>
              <a:t>SUN</a:t>
            </a:r>
            <a:r>
              <a:rPr lang="fr-FR" sz="1200" spc="20" dirty="0">
                <a:solidFill>
                  <a:srgbClr val="1C1917"/>
                </a:solidFill>
                <a:latin typeface="Bierstadt" panose="020B0004020202020204" pitchFamily="34" charset="0"/>
              </a:rPr>
              <a:t>STONE</a:t>
            </a:r>
          </a:p>
          <a:p>
            <a:pPr>
              <a:lnSpc>
                <a:spcPct val="85000"/>
              </a:lnSpc>
            </a:pPr>
            <a:r>
              <a:rPr lang="fr-FR" sz="700" spc="-20" dirty="0">
                <a:solidFill>
                  <a:srgbClr val="1C1917"/>
                </a:solidFill>
                <a:latin typeface="Bierstadt" panose="020B0004020202020204" pitchFamily="34" charset="0"/>
              </a:rPr>
              <a:t>ADVISORY</a:t>
            </a:r>
            <a:endParaRPr lang="fr-FR" sz="1000" spc="-20" dirty="0">
              <a:solidFill>
                <a:srgbClr val="1C1917"/>
              </a:solidFill>
              <a:latin typeface="Bierstadt" panose="020B0004020202020204" pitchFamily="34" charset="0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300D429-67EC-A334-D93B-4D3BC2FA620E}"/>
              </a:ext>
            </a:extLst>
          </p:cNvPr>
          <p:cNvSpPr txBox="1"/>
          <p:nvPr/>
        </p:nvSpPr>
        <p:spPr>
          <a:xfrm>
            <a:off x="211923" y="4944240"/>
            <a:ext cx="6299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1C1917"/>
                </a:solidFill>
              </a:rPr>
              <a:t>Aptos</a:t>
            </a:r>
          </a:p>
          <a:p>
            <a:r>
              <a:rPr lang="fr-FR" sz="1200" dirty="0">
                <a:solidFill>
                  <a:srgbClr val="1C1917"/>
                </a:solidFill>
              </a:rPr>
              <a:t>APTOS</a:t>
            </a:r>
            <a:endParaRPr lang="fr-FR" sz="1000" dirty="0">
              <a:solidFill>
                <a:srgbClr val="1C1917"/>
              </a:solidFill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70C2B16-95C2-001B-9498-368B744D7D11}"/>
              </a:ext>
            </a:extLst>
          </p:cNvPr>
          <p:cNvSpPr txBox="1"/>
          <p:nvPr/>
        </p:nvSpPr>
        <p:spPr>
          <a:xfrm>
            <a:off x="211923" y="5543592"/>
            <a:ext cx="9126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1C1917"/>
                </a:solidFill>
                <a:latin typeface="Bierstadt" panose="020B0004020202020204" pitchFamily="34" charset="0"/>
              </a:rPr>
              <a:t>Bierstadt</a:t>
            </a:r>
          </a:p>
          <a:p>
            <a:r>
              <a:rPr lang="fr-FR" sz="1200" dirty="0">
                <a:solidFill>
                  <a:srgbClr val="1C1917"/>
                </a:solidFill>
                <a:latin typeface="Bierstadt" panose="020B0004020202020204" pitchFamily="34" charset="0"/>
              </a:rPr>
              <a:t>BIERSTADT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119100EF-DE04-C25C-DBB8-D775C7F0C768}"/>
              </a:ext>
            </a:extLst>
          </p:cNvPr>
          <p:cNvSpPr txBox="1"/>
          <p:nvPr/>
        </p:nvSpPr>
        <p:spPr>
          <a:xfrm>
            <a:off x="211923" y="6206907"/>
            <a:ext cx="180876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solidFill>
                  <a:srgbClr val="1C1917"/>
                </a:solidFill>
                <a:latin typeface="Franklin Gothic Book" panose="020B0503020102020204" pitchFamily="34" charset="0"/>
              </a:rPr>
              <a:t>Franklin Gothic Book</a:t>
            </a:r>
          </a:p>
          <a:p>
            <a:r>
              <a:rPr lang="fr-FR" sz="1200" dirty="0">
                <a:solidFill>
                  <a:srgbClr val="1C1917"/>
                </a:solidFill>
                <a:latin typeface="Franklin Gothic Book" panose="020B0503020102020204" pitchFamily="34" charset="0"/>
              </a:rPr>
              <a:t>FRANKLIN GOTHIC BOOK</a:t>
            </a:r>
          </a:p>
        </p:txBody>
      </p:sp>
      <p:pic>
        <p:nvPicPr>
          <p:cNvPr id="103" name="Graphic 102">
            <a:extLst>
              <a:ext uri="{FF2B5EF4-FFF2-40B4-BE49-F238E27FC236}">
                <a16:creationId xmlns:a16="http://schemas.microsoft.com/office/drawing/2014/main" id="{F3F19462-03D4-1242-620D-6148DE6B60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7375" y="5535057"/>
            <a:ext cx="303495" cy="303495"/>
          </a:xfrm>
          <a:prstGeom prst="rect">
            <a:avLst/>
          </a:prstGeom>
        </p:spPr>
      </p:pic>
      <p:grpSp>
        <p:nvGrpSpPr>
          <p:cNvPr id="105" name="Group 104">
            <a:extLst>
              <a:ext uri="{FF2B5EF4-FFF2-40B4-BE49-F238E27FC236}">
                <a16:creationId xmlns:a16="http://schemas.microsoft.com/office/drawing/2014/main" id="{E17B8E19-6A67-71EB-8442-4FFF5C2292A3}"/>
              </a:ext>
            </a:extLst>
          </p:cNvPr>
          <p:cNvGrpSpPr>
            <a:grpSpLocks noChangeAspect="1"/>
          </p:cNvGrpSpPr>
          <p:nvPr/>
        </p:nvGrpSpPr>
        <p:grpSpPr>
          <a:xfrm>
            <a:off x="2348427" y="5564925"/>
            <a:ext cx="215368" cy="246658"/>
            <a:chOff x="2237102" y="2375266"/>
            <a:chExt cx="315320" cy="361130"/>
          </a:xfrm>
        </p:grpSpPr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4C9E425D-A55B-4338-6198-8C0348C86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19050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CD655A9-1D14-B896-4D23-A787512631B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D8CED57F-FC85-F879-EC9E-C3FB86941B99}"/>
              </a:ext>
            </a:extLst>
          </p:cNvPr>
          <p:cNvGrpSpPr>
            <a:grpSpLocks noChangeAspect="1"/>
          </p:cNvGrpSpPr>
          <p:nvPr/>
        </p:nvGrpSpPr>
        <p:grpSpPr>
          <a:xfrm>
            <a:off x="2348427" y="6238088"/>
            <a:ext cx="215368" cy="246658"/>
            <a:chOff x="2237102" y="2375266"/>
            <a:chExt cx="315320" cy="361130"/>
          </a:xfrm>
        </p:grpSpPr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90D122D0-1E48-8741-4C58-8E4FA51E9D9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19050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8211B841-FD2B-2DF7-ACD5-6386D41F139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1EEEBB0-9FBB-EDB5-2582-7691F4B3A6B7}"/>
              </a:ext>
            </a:extLst>
          </p:cNvPr>
          <p:cNvGrpSpPr>
            <a:grpSpLocks noChangeAspect="1"/>
          </p:cNvGrpSpPr>
          <p:nvPr/>
        </p:nvGrpSpPr>
        <p:grpSpPr>
          <a:xfrm>
            <a:off x="4010079" y="5562813"/>
            <a:ext cx="215368" cy="246658"/>
            <a:chOff x="2237102" y="2375266"/>
            <a:chExt cx="315320" cy="361130"/>
          </a:xfrm>
        </p:grpSpPr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9E4CEEC0-324A-3EDE-3DA0-994351A844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19050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94D7564C-6920-FAB3-3CD7-835D981FABF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4B0AE937-606E-9078-61A5-A9191FFE1C77}"/>
              </a:ext>
            </a:extLst>
          </p:cNvPr>
          <p:cNvGrpSpPr>
            <a:grpSpLocks noChangeAspect="1"/>
          </p:cNvGrpSpPr>
          <p:nvPr/>
        </p:nvGrpSpPr>
        <p:grpSpPr>
          <a:xfrm>
            <a:off x="4010079" y="6238088"/>
            <a:ext cx="215368" cy="246658"/>
            <a:chOff x="2237102" y="2375266"/>
            <a:chExt cx="315320" cy="361130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7F742D5-47AB-BA15-D33F-A57EF6ABAAE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19050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CA07B630-AE6F-1402-C651-1F47692CAB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04" name="Graphic 103">
            <a:extLst>
              <a:ext uri="{FF2B5EF4-FFF2-40B4-BE49-F238E27FC236}">
                <a16:creationId xmlns:a16="http://schemas.microsoft.com/office/drawing/2014/main" id="{C5AC0FA2-D7B3-130B-DC7B-01EB675B90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47330" y="178365"/>
            <a:ext cx="444348" cy="4443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682B2A6-98EE-A9E7-5494-C4710129BF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5715" t="31129" r="75317"/>
          <a:stretch>
            <a:fillRect/>
          </a:stretch>
        </p:blipFill>
        <p:spPr>
          <a:xfrm>
            <a:off x="5606893" y="178365"/>
            <a:ext cx="677733" cy="585520"/>
          </a:xfrm>
          <a:prstGeom prst="rect">
            <a:avLst/>
          </a:prstGeom>
        </p:spPr>
      </p:pic>
      <p:sp>
        <p:nvSpPr>
          <p:cNvPr id="126" name="Rectangle 125">
            <a:extLst>
              <a:ext uri="{FF2B5EF4-FFF2-40B4-BE49-F238E27FC236}">
                <a16:creationId xmlns:a16="http://schemas.microsoft.com/office/drawing/2014/main" id="{62DB07A3-6B2D-2501-D574-DB4A9F9B9620}"/>
              </a:ext>
            </a:extLst>
          </p:cNvPr>
          <p:cNvSpPr>
            <a:spLocks noChangeAspect="1"/>
          </p:cNvSpPr>
          <p:nvPr/>
        </p:nvSpPr>
        <p:spPr>
          <a:xfrm>
            <a:off x="8235519" y="126204"/>
            <a:ext cx="3515163" cy="22872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640" rtlCol="0" anchor="t"/>
          <a:lstStyle/>
          <a:p>
            <a:r>
              <a:rPr lang="fr-FR" sz="1100" b="1" dirty="0">
                <a:solidFill>
                  <a:srgbClr val="1C1917"/>
                </a:solidFill>
              </a:rPr>
              <a:t>3 – Le carré ouvert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Le cadre représente le « stone »: la solidité, l’institution, la structure. Avec une ouverture supérieure qui symbolise l’esprit agile, capable de voir au-delà des cadres rigides (du M&amp;A classique)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Point doré: le « </a:t>
            </a:r>
            <a:r>
              <a:rPr lang="fr-FR" sz="1100" dirty="0" err="1">
                <a:solidFill>
                  <a:srgbClr val="1C1917"/>
                </a:solidFill>
              </a:rPr>
              <a:t>sun</a:t>
            </a:r>
            <a:r>
              <a:rPr lang="fr-FR" sz="1100" dirty="0">
                <a:solidFill>
                  <a:srgbClr val="1C1917"/>
                </a:solidFill>
              </a:rPr>
              <a:t> », apporte une clarté lumineuse au sein d’une exécution solide – agit comme une boussole, placé au sommet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DBDC0E3B-37FA-6B00-9379-4C96E7D06BE9}"/>
              </a:ext>
            </a:extLst>
          </p:cNvPr>
          <p:cNvGrpSpPr>
            <a:grpSpLocks noChangeAspect="1"/>
          </p:cNvGrpSpPr>
          <p:nvPr/>
        </p:nvGrpSpPr>
        <p:grpSpPr>
          <a:xfrm>
            <a:off x="9835439" y="279870"/>
            <a:ext cx="315322" cy="361132"/>
            <a:chOff x="2237102" y="2375266"/>
            <a:chExt cx="315320" cy="36113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3E79ABC6-5B86-2041-2B18-F6FFA7EDB3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37102" y="2421076"/>
              <a:ext cx="315320" cy="315320"/>
            </a:xfrm>
            <a:prstGeom prst="rect">
              <a:avLst/>
            </a:prstGeom>
            <a:noFill/>
            <a:ln w="28575">
              <a:solidFill>
                <a:srgbClr val="1C191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8BA2FA7B-BE37-8634-C13A-250B0712D71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353245" y="2375266"/>
              <a:ext cx="83035" cy="83035"/>
            </a:xfrm>
            <a:prstGeom prst="rect">
              <a:avLst/>
            </a:prstGeom>
            <a:solidFill>
              <a:srgbClr val="C2A052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BF5309C-94CC-8412-7D87-60E49A45A7AD}"/>
              </a:ext>
            </a:extLst>
          </p:cNvPr>
          <p:cNvSpPr>
            <a:spLocks noChangeAspect="1"/>
          </p:cNvSpPr>
          <p:nvPr/>
        </p:nvSpPr>
        <p:spPr>
          <a:xfrm>
            <a:off x="4188177" y="2547116"/>
            <a:ext cx="3515163" cy="228721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48640" rtlCol="0" anchor="t"/>
          <a:lstStyle/>
          <a:p>
            <a:r>
              <a:rPr lang="fr-FR" sz="1100" b="1" dirty="0">
                <a:solidFill>
                  <a:srgbClr val="1C1917"/>
                </a:solidFill>
              </a:rPr>
              <a:t>5 – Le S en arc de cercles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Un S décomposé en 2 arcs de cercles qui se croisent. Asymétrie de forme. Moins structuré et solide que les formes carrées 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Impression de mouvement et fluidité, soleil qui éclaire des décisions solides</a:t>
            </a:r>
          </a:p>
          <a:p>
            <a:endParaRPr lang="fr-FR" sz="1100" dirty="0">
              <a:solidFill>
                <a:srgbClr val="1C1917"/>
              </a:solidFill>
            </a:endParaRPr>
          </a:p>
          <a:p>
            <a:r>
              <a:rPr lang="fr-FR" sz="1100" dirty="0">
                <a:solidFill>
                  <a:srgbClr val="1C1917"/>
                </a:solidFill>
              </a:rPr>
              <a:t>Ligne verticale : alignement entre les parties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A137DAA-C8EC-B8CF-7A92-A56DB3C16CA6}"/>
              </a:ext>
            </a:extLst>
          </p:cNvPr>
          <p:cNvGrpSpPr>
            <a:grpSpLocks noChangeAspect="1"/>
          </p:cNvGrpSpPr>
          <p:nvPr/>
        </p:nvGrpSpPr>
        <p:grpSpPr>
          <a:xfrm>
            <a:off x="5684482" y="2629481"/>
            <a:ext cx="381538" cy="439079"/>
            <a:chOff x="1005609" y="3506484"/>
            <a:chExt cx="461660" cy="531285"/>
          </a:xfrm>
        </p:grpSpPr>
        <p:sp>
          <p:nvSpPr>
            <p:cNvPr id="16" name="Chord 15">
              <a:extLst>
                <a:ext uri="{FF2B5EF4-FFF2-40B4-BE49-F238E27FC236}">
                  <a16:creationId xmlns:a16="http://schemas.microsoft.com/office/drawing/2014/main" id="{DD96E418-1CC1-51F8-E210-30ECE3C498A2}"/>
                </a:ext>
              </a:extLst>
            </p:cNvPr>
            <p:cNvSpPr>
              <a:spLocks noChangeAspect="1"/>
            </p:cNvSpPr>
            <p:nvPr/>
          </p:nvSpPr>
          <p:spPr>
            <a:xfrm rot="10800000">
              <a:off x="1005609" y="3576107"/>
              <a:ext cx="461660" cy="461662"/>
            </a:xfrm>
            <a:prstGeom prst="chord">
              <a:avLst>
                <a:gd name="adj1" fmla="val 5499007"/>
                <a:gd name="adj2" fmla="val 16052748"/>
              </a:avLst>
            </a:prstGeom>
            <a:solidFill>
              <a:srgbClr val="1C1917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Chord 19">
              <a:extLst>
                <a:ext uri="{FF2B5EF4-FFF2-40B4-BE49-F238E27FC236}">
                  <a16:creationId xmlns:a16="http://schemas.microsoft.com/office/drawing/2014/main" id="{F12E1A32-B532-FBAF-1E72-5BE87C966F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75727" y="3506484"/>
              <a:ext cx="346852" cy="346852"/>
            </a:xfrm>
            <a:prstGeom prst="chord">
              <a:avLst>
                <a:gd name="adj1" fmla="val 5499007"/>
                <a:gd name="adj2" fmla="val 16052748"/>
              </a:avLst>
            </a:prstGeom>
            <a:solidFill>
              <a:srgbClr val="C2A052"/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9350591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295</Words>
  <Application>Microsoft Office PowerPoint</Application>
  <PresentationFormat>Widescreen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Bierstadt</vt:lpstr>
      <vt:lpstr>Franklin Gothic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Marine Charbonnier</dc:creator>
  <cp:lastModifiedBy>Marine Charbonnier</cp:lastModifiedBy>
  <cp:revision>2</cp:revision>
  <dcterms:created xsi:type="dcterms:W3CDTF">2026-04-16T08:57:13Z</dcterms:created>
  <dcterms:modified xsi:type="dcterms:W3CDTF">2026-04-16T13:16:17Z</dcterms:modified>
</cp:coreProperties>
</file>